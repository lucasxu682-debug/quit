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4"/>
  </p:sldMasterIdLst>
  <p:notesMasterIdLst>
    <p:notesMasterId r:id="rId39"/>
  </p:notesMasterIdLst>
  <p:handoutMasterIdLst>
    <p:handoutMasterId r:id="rId40"/>
  </p:handoutMasterIdLst>
  <p:sldIdLst>
    <p:sldId id="257" r:id="rId5"/>
    <p:sldId id="259" r:id="rId6"/>
    <p:sldId id="332" r:id="rId7"/>
    <p:sldId id="334" r:id="rId8"/>
    <p:sldId id="335" r:id="rId9"/>
    <p:sldId id="336" r:id="rId10"/>
    <p:sldId id="337" r:id="rId11"/>
    <p:sldId id="339" r:id="rId12"/>
    <p:sldId id="340" r:id="rId13"/>
    <p:sldId id="341" r:id="rId14"/>
    <p:sldId id="343" r:id="rId15"/>
    <p:sldId id="344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9" r:id="rId29"/>
    <p:sldId id="360" r:id="rId30"/>
    <p:sldId id="361" r:id="rId31"/>
    <p:sldId id="362" r:id="rId32"/>
    <p:sldId id="366" r:id="rId33"/>
    <p:sldId id="367" r:id="rId34"/>
    <p:sldId id="370" r:id="rId35"/>
    <p:sldId id="371" r:id="rId36"/>
    <p:sldId id="372" r:id="rId37"/>
    <p:sldId id="373" r:id="rId38"/>
  </p:sldIdLst>
  <p:sldSz cx="12192000" cy="6858000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6F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90" autoAdjust="0"/>
    <p:restoredTop sz="96229" autoAdjust="0"/>
  </p:normalViewPr>
  <p:slideViewPr>
    <p:cSldViewPr snapToGrid="0">
      <p:cViewPr varScale="1">
        <p:scale>
          <a:sx n="73" d="100"/>
          <a:sy n="73" d="100"/>
        </p:scale>
        <p:origin x="456" y="267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r>
              <a:rPr lang="en-US"/>
              <a:t>HDDS1104 - Topic 01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8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FAAD913-96EF-4EA9-ADDA-FE0DC9AF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02133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r>
              <a:rPr lang="en-US"/>
              <a:t>HDDS1104 - Topic 01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520439"/>
            <a:ext cx="7680960" cy="2880361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B962BF7-79F0-4370-B9BD-36EED38D3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9965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5372" indent="-302066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08265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91571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74878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58184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41490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24796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08102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FFE4FB0-76ED-465E-B9F5-9BC6CD6DD3C0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281836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2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1760918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5F92D981-B745-6E2C-461D-B94560504F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505A279-792B-4577-B2D2-B310EBE16CA3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F2284F10-8530-C9E8-1364-7925F1BEC0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EC7081-98A7-429F-855F-07ACD642046B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F46945F-60D8-6986-03C8-22EA25C843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87703F0C-509E-D5CE-E965-FEEEC610D1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0C3BD1B0-6108-1A22-F0E8-80DD2F8133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E2BBCE-51FF-486F-99AF-D6CFC261684A}" type="slidenum">
              <a:rPr lang="en-US" altLang="en-US">
                <a:latin typeface="Helvetica" panose="020B0604020202020204" pitchFamily="34" charset="0"/>
              </a:rPr>
              <a:pPr/>
              <a:t>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131591A8-8AA9-D9D6-1F02-6636806E14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A97E5743-ED7C-B2FD-A53E-5428632A7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14493C9D-CBB7-92E6-B98B-A2696F942D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D03984-7C95-4D05-981B-3AE0DA3CA741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5A001853-7EAF-16BD-E5BE-63C9A940F6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86A9B9E3-33C5-517A-3F19-AE22365122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498561D1-52F8-E959-9825-36DDC66F9A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016F67-4167-4827-B191-860998C32CAD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EFB14AC9-30B7-9BDA-3FC4-7F57752F1A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2D55630A-F4A8-81FE-D59B-5B8BE85877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A78F346A-FF13-04ED-F3B9-39633AC559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590D828-A0F2-4C9E-9C8F-216BA528746D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5FD91BA9-36B6-A962-8142-A0F62C5D7F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A541895C-32BD-BBE8-C9D3-9EBB2F7BCE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3A82430E-2F96-2B53-4511-F264D7DAD1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70F597D-CB31-4D77-87D3-505E91FA97EB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4354B82E-19A2-2EB1-2E7C-61A39F1A7B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48F51923-A0D2-78C1-B34C-B5CD676631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BC254E00-C8CB-9E73-DAF9-DB05B4FAF8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E25411B-5FF7-4895-94A9-B3A22A946F98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7436FFDC-7D16-0647-3FB8-D3C787293B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064F92D2-CD7E-9192-AF5E-1EAEF8BBF8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F5EDBD2B-3EDE-2073-F290-0FCCAB97D0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4B5EFC0-6D82-4579-9159-34E36ED2F51D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3F350EFB-7ACD-8852-EF3B-E6EF239734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1D371FF1-46EC-F954-8542-4DD42C94B0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6FF81E34-00AD-A71E-B506-FD4A53F93C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4E9BF3A-572A-425B-A69E-C7B8FD13E657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76356328-271B-AEB1-EFF2-129F76A86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32F240E9-A16A-6183-80B9-A1BA25AFEA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C2891A7F-D539-FACD-62F4-DEAD020435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293278-1AAF-468F-AA96-628522FEF5D9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2BBD0081-FC6B-BFFF-22A0-6533D3E7ED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60C6F2C8-1041-187D-EB22-EB65078E4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4F7CA520-D33B-0D93-6512-1B6B76B15C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16EE430-F83E-4D3E-9AB8-6B861BA8BC74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7FD9F729-B63C-AA45-496F-E085F8588B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8DCB8E75-D076-1247-3815-7E6BAA0B99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8AF83001-3819-1AAE-26B3-EBAFD89F67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6B077D-DDBD-46C7-B1D2-6CC45E39349C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57A86AC5-7F67-2DA2-DB15-A62961B448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86B3A2D5-C19A-E611-8655-117F2E3E9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5F76BF1B-9633-384D-C333-E3933DF532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2539E6-0E63-4632-AB93-0C45D40B7B39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6E7B29BF-B712-31F1-F92A-F19671582B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EBFC5F6C-5775-39FE-7708-155763366E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47A2C005-B699-848F-9123-A2D4028518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94F2431-16E2-41A9-BDF4-43B958733346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16490532-D3D2-10D8-08FE-AEC5507DBB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619713EF-A0C2-E111-E061-205377012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7A2977E1-1DDC-23B1-165A-A3F9AB8F70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24800B-77B7-4AE7-B246-51EF1EA085C2}" type="slidenum">
              <a:rPr lang="en-US" altLang="en-US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6FABF43C-DEB4-2579-048D-E8D0DCE892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CB6E3A7E-5262-A80C-8DB1-5A27CAD36B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37533EF0-CC0C-8E8F-A98B-32C6D2F73C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2784ADF-EA86-4F06-8D71-AA829B39286D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411CB9DA-D326-37A3-5CC2-31DF802074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2BF9EB24-3FEC-551B-EEBE-6FE4992263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3676A69D-7545-1110-188C-5B9AF911DC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DC0F7B2-E6D2-4082-BBF9-AC6693AC3773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42BE9578-7D89-EE97-81D8-58AFBBA11C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A1F85C04-0996-69F5-B1B1-5A197DBD1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4D18447B-8C86-7BAA-F346-22A84EC7A2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6AA97B-C658-4108-B29A-D7BA193B8703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C52C6463-7C67-905F-DD86-1F53FA8FEB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D5D6451-8B96-F4A1-2AF7-A91FD98A3D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9078772D-9C8B-A647-E744-532CD391A3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22AAAF-B129-447C-884E-58DE8BAFAE2C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080F2C2C-2355-B32E-2AAE-87C1E98FDB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8E76F108-2319-D1BE-25A0-9476D2836F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79BFC0F8-24D2-BF60-2CF3-0C30ABAB0B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960959-1270-47F6-9652-D7440624E02E}" type="slidenum">
              <a:rPr lang="en-US" altLang="en-US">
                <a:latin typeface="Helvetica" panose="020B0604020202020204" pitchFamily="34" charset="0"/>
              </a:rPr>
              <a:pPr/>
              <a:t>27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FF05D937-5A69-5DA1-4855-BBC61DB865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AE79DF6C-3B44-6D90-064E-FC8445E72E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3BD5F98A-479C-C38B-00CE-E5E8BA3C40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29029BC-AA0B-4CF8-8ADD-A7D86ED9040F}" type="slidenum">
              <a:rPr lang="en-US" altLang="en-US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C13EEFE7-E7BC-4C87-4BBE-B04FD8E257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884E9A18-846E-5A56-1689-93C3F34727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B8691FE9-9C79-30E0-CD08-798739D928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6C2C56-071F-4BC0-A8FD-4DCE670BB877}" type="slidenum">
              <a:rPr lang="en-US" altLang="en-US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C4DBC578-9498-3025-EBFE-FCFD5CAECA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FE3A283B-F7B4-ECA3-0C8D-95115B48D5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9381EE5E-CD0B-E8A9-5C3E-2AF8EC0B2B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3918434-BA6C-4F5A-AFA9-203E12C5F785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2ABECC88-8607-7B81-F8A2-224EA3FD43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7069B2F4-B90A-EFF0-22A8-5C3CEFD37C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3AEB601B-3C05-B915-A9AF-D4B952DB28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BF9DE9-2E88-413F-B236-A80FFD487AC2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427369AA-0AA2-4A71-3CEF-63C0289BE5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5F89BFEF-A25C-9BCC-0E34-55BD9785B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D353A8BE-D690-2A11-499E-648D88507D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BD777D-BC53-4D04-8067-908FFA145FEE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DA10D14C-9D68-19E2-9B16-A25C626DED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7BB5D913-508E-6CE8-3093-C33D6529E8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AC288EA5-4E6E-144E-AD2E-11F411F5A2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5102AE6-B3D3-4CA2-9303-8295C4BE8155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4E569CAC-751C-4962-11D1-45971F632E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2A10545-26AC-3E57-BE42-E738F81819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D9CBE720-E8AA-A4FA-898A-8363D26E9F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AA08D9D-7745-46CB-9653-D27310735F24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D5BFA848-AF21-6B3D-C782-FCBCC3E7D0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131B6F77-0CBC-0C0C-A259-5E5E60077A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043288D-B9FD-434D-95B8-613D90AA4248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818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10C4B-6720-417A-8108-7A460525C82B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931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B70C0-D2F5-429B-BE95-FD51A0494A88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838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780F2-4021-49CB-AAFF-3C9B057C343A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39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1AB26-44AC-4716-9583-121D1A7B262E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68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8AF12-5FF0-4145-9ABE-FEA4AAB669B5}" type="datetime1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19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C7D9-FE96-44DF-B9C9-B45B37EAD493}" type="datetime1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9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26D92-A6D4-4675-91D1-03013160177B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334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173E-F1D7-4589-86B9-DDB7CC99E7ED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244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F913-9D25-48AA-AD03-06CE6A01B4A0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54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757AC-48C4-491C-9BEA-42C6237AC0E9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003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B5324542-3DDA-4F1D-927E-A4C5A6393DA3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4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2037908-16EE-4428-8F70-7D05C8EAE2D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22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aler.com/topics/ioctl-in-linux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operating-systems/block-and-character-devices-in-operating-syste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HDDS1104</a:t>
            </a:r>
            <a:br>
              <a:rPr lang="en-US" altLang="en-US"/>
            </a:br>
            <a:r>
              <a:rPr lang="en-US" altLang="en-US"/>
              <a:t>Operating Systems and Networking</a:t>
            </a:r>
            <a:endParaRPr lang="en-US" alt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4 (part 2) – </a:t>
            </a:r>
          </a:p>
          <a:p>
            <a:r>
              <a:rPr lang="en-US" dirty="0"/>
              <a:t>I/O Management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7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Intended Learning Outcomes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Explore the structure of an operating system</a:t>
            </a:r>
            <a:r>
              <a:rPr lang="ja-JP" altLang="en-US" dirty="0"/>
              <a:t>’</a:t>
            </a:r>
            <a:r>
              <a:rPr lang="en-US" altLang="ja-JP" dirty="0"/>
              <a:t>s I/O subsystem</a:t>
            </a:r>
            <a:endParaRPr lang="en-US" altLang="en-US" dirty="0"/>
          </a:p>
          <a:p>
            <a:r>
              <a:rPr lang="en-US" altLang="en-US" dirty="0"/>
              <a:t>Discuss the principles of I/O hardware and its complexity</a:t>
            </a:r>
          </a:p>
          <a:p>
            <a:r>
              <a:rPr lang="en-US" altLang="en-US" dirty="0"/>
              <a:t>Provide details of the performance aspects of I/O hardware and software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1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81931CD-6CF2-193B-4065-F60A17C33A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95163" y="1019874"/>
            <a:ext cx="7783512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Topics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F56F6C0-9125-114A-569E-A030F636DE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95164" y="1725911"/>
            <a:ext cx="8094926" cy="4530725"/>
          </a:xfrm>
        </p:spPr>
        <p:txBody>
          <a:bodyPr>
            <a:normAutofit/>
          </a:bodyPr>
          <a:lstStyle/>
          <a:p>
            <a:r>
              <a:rPr lang="en-US" altLang="en-US" dirty="0"/>
              <a:t>Overview</a:t>
            </a:r>
          </a:p>
          <a:p>
            <a:r>
              <a:rPr lang="en-US" altLang="en-US" dirty="0"/>
              <a:t>I/O Hardware</a:t>
            </a:r>
          </a:p>
          <a:p>
            <a:r>
              <a:rPr lang="en-US" altLang="en-US" dirty="0"/>
              <a:t>Application I/O Interface</a:t>
            </a:r>
          </a:p>
          <a:p>
            <a:r>
              <a:rPr lang="en-US" altLang="en-US" dirty="0"/>
              <a:t>Kernel I/O Subsystem</a:t>
            </a:r>
          </a:p>
          <a:p>
            <a:r>
              <a:rPr lang="en-US" altLang="en-US" dirty="0"/>
              <a:t>Transforming I/O Requests to Hardware Operations</a:t>
            </a:r>
          </a:p>
          <a:p>
            <a:r>
              <a:rPr lang="en-US" altLang="en-US" dirty="0"/>
              <a:t>Performance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26E952-C845-8286-CFB3-C07682633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DB3F4CE1-F66D-056C-F15E-8ECB23744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72" y="978336"/>
            <a:ext cx="8817128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Overview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7F1DA558-62CE-BC6E-F6E8-9764646C8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0428" y="2016561"/>
            <a:ext cx="8152360" cy="4530725"/>
          </a:xfrm>
        </p:spPr>
        <p:txBody>
          <a:bodyPr>
            <a:normAutofit/>
          </a:bodyPr>
          <a:lstStyle/>
          <a:p>
            <a:r>
              <a:rPr lang="en-US" altLang="en-US" dirty="0"/>
              <a:t>I/O management is a major component of operating system design and operation</a:t>
            </a:r>
          </a:p>
          <a:p>
            <a:pPr lvl="1"/>
            <a:r>
              <a:rPr lang="en-US" altLang="en-US" dirty="0"/>
              <a:t>Important aspect of computer operation</a:t>
            </a:r>
          </a:p>
          <a:p>
            <a:pPr lvl="1"/>
            <a:r>
              <a:rPr lang="en-US" altLang="en-US" dirty="0"/>
              <a:t>I/O devices vary greatly</a:t>
            </a:r>
          </a:p>
          <a:p>
            <a:pPr lvl="1"/>
            <a:r>
              <a:rPr lang="en-US" altLang="en-US" dirty="0"/>
              <a:t>Various methods to control them</a:t>
            </a:r>
          </a:p>
          <a:p>
            <a:pPr lvl="1"/>
            <a:r>
              <a:rPr lang="en-US" altLang="en-US" dirty="0"/>
              <a:t>Performance management </a:t>
            </a:r>
          </a:p>
          <a:p>
            <a:pPr lvl="1"/>
            <a:r>
              <a:rPr lang="en-US" altLang="en-US" dirty="0"/>
              <a:t>New types of devices frequent</a:t>
            </a:r>
          </a:p>
          <a:p>
            <a:r>
              <a:rPr lang="en-US" altLang="en-US" dirty="0"/>
              <a:t>Ports, busses, device controllers connect to various devices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Device drivers </a:t>
            </a:r>
            <a:r>
              <a:rPr lang="en-US" altLang="en-US" dirty="0"/>
              <a:t>encapsulate device details</a:t>
            </a:r>
          </a:p>
          <a:p>
            <a:pPr lvl="1"/>
            <a:r>
              <a:rPr lang="en-US" altLang="en-US" dirty="0"/>
              <a:t>Present uniform device-access interface to I/O subsystem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70D21A-6014-78B1-F3FE-A9D76561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48C3067-DA90-5A9E-C4A7-778606AC26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3672" y="934106"/>
            <a:ext cx="8817129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I/O Hardware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595CE02-C5C3-C4C3-A4A7-8862D65592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93672" y="1875494"/>
            <a:ext cx="8537728" cy="5018087"/>
          </a:xfrm>
        </p:spPr>
        <p:txBody>
          <a:bodyPr>
            <a:normAutofit/>
          </a:bodyPr>
          <a:lstStyle/>
          <a:p>
            <a:r>
              <a:rPr lang="en-US" altLang="en-US" dirty="0"/>
              <a:t>Incredible variety of I/O devices</a:t>
            </a:r>
          </a:p>
          <a:p>
            <a:pPr lvl="1"/>
            <a:r>
              <a:rPr lang="en-US" altLang="en-US" sz="1600" dirty="0"/>
              <a:t>Storage</a:t>
            </a:r>
          </a:p>
          <a:p>
            <a:pPr lvl="1"/>
            <a:r>
              <a:rPr lang="en-US" altLang="en-US" sz="1600" dirty="0"/>
              <a:t>Transmission</a:t>
            </a:r>
          </a:p>
          <a:p>
            <a:pPr lvl="1"/>
            <a:r>
              <a:rPr lang="en-US" altLang="en-US" sz="1600" dirty="0"/>
              <a:t>Human-interface</a:t>
            </a:r>
          </a:p>
          <a:p>
            <a:r>
              <a:rPr lang="en-US" altLang="en-US" dirty="0"/>
              <a:t>Common concepts – signals from I/O devices interface with computer</a:t>
            </a:r>
          </a:p>
          <a:p>
            <a:pPr lvl="1"/>
            <a:r>
              <a:rPr lang="en-US" altLang="en-US" sz="1600" b="1" dirty="0">
                <a:solidFill>
                  <a:srgbClr val="3366FF"/>
                </a:solidFill>
              </a:rPr>
              <a:t>Port </a:t>
            </a:r>
            <a:r>
              <a:rPr lang="en-US" altLang="en-US" sz="1600" dirty="0"/>
              <a:t>– connection point for device</a:t>
            </a:r>
          </a:p>
          <a:p>
            <a:pPr lvl="1"/>
            <a:r>
              <a:rPr lang="en-US" altLang="en-US" sz="1600" b="1" dirty="0">
                <a:solidFill>
                  <a:srgbClr val="3366FF"/>
                </a:solidFill>
              </a:rPr>
              <a:t>Bus</a:t>
            </a:r>
            <a:r>
              <a:rPr lang="en-US" altLang="en-US" sz="1600" dirty="0"/>
              <a:t> - </a:t>
            </a:r>
            <a:r>
              <a:rPr lang="en-US" altLang="en-US" sz="1600" b="1" dirty="0">
                <a:solidFill>
                  <a:srgbClr val="3366FF"/>
                </a:solidFill>
              </a:rPr>
              <a:t>daisy chain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or shared direct access</a:t>
            </a:r>
          </a:p>
          <a:p>
            <a:pPr lvl="2"/>
            <a:r>
              <a:rPr lang="en-US" altLang="en-US" sz="1600" b="1" dirty="0">
                <a:solidFill>
                  <a:srgbClr val="3366FF"/>
                </a:solidFill>
              </a:rPr>
              <a:t>PCI</a:t>
            </a:r>
            <a:r>
              <a:rPr lang="en-US" altLang="en-US" sz="1600" dirty="0"/>
              <a:t> bus common in PCs and servers, PCI Express (</a:t>
            </a:r>
            <a:r>
              <a:rPr lang="en-US" altLang="en-US" sz="1600" b="1" dirty="0">
                <a:solidFill>
                  <a:srgbClr val="3366FF"/>
                </a:solidFill>
              </a:rPr>
              <a:t>PCIe</a:t>
            </a:r>
            <a:r>
              <a:rPr lang="en-US" altLang="en-US" sz="1600" dirty="0"/>
              <a:t>) </a:t>
            </a:r>
          </a:p>
          <a:p>
            <a:pPr lvl="2"/>
            <a:r>
              <a:rPr lang="en-US" altLang="en-US" sz="1600" b="1" dirty="0">
                <a:solidFill>
                  <a:srgbClr val="3366FF"/>
                </a:solidFill>
              </a:rPr>
              <a:t>expansion</a:t>
            </a:r>
            <a:r>
              <a:rPr lang="en-US" altLang="en-US" sz="1600" dirty="0"/>
              <a:t> </a:t>
            </a:r>
            <a:r>
              <a:rPr lang="en-US" altLang="en-US" sz="1600" b="1" dirty="0">
                <a:solidFill>
                  <a:srgbClr val="3366FF"/>
                </a:solidFill>
              </a:rPr>
              <a:t>bus</a:t>
            </a:r>
            <a:r>
              <a:rPr lang="en-US" altLang="en-US" sz="1600" dirty="0"/>
              <a:t> connects relatively slow devices</a:t>
            </a:r>
          </a:p>
          <a:p>
            <a:pPr lvl="1"/>
            <a:r>
              <a:rPr lang="en-US" altLang="en-US" sz="1600" b="1" dirty="0">
                <a:solidFill>
                  <a:srgbClr val="3366FF"/>
                </a:solidFill>
              </a:rPr>
              <a:t>Controller</a:t>
            </a:r>
            <a:r>
              <a:rPr lang="en-US" altLang="en-US" sz="1600" dirty="0"/>
              <a:t> (</a:t>
            </a:r>
            <a:r>
              <a:rPr lang="en-US" altLang="en-US" sz="1600" b="1" dirty="0">
                <a:solidFill>
                  <a:srgbClr val="3366FF"/>
                </a:solidFill>
              </a:rPr>
              <a:t>host adapter</a:t>
            </a:r>
            <a:r>
              <a:rPr lang="en-US" altLang="en-US" sz="1600" dirty="0"/>
              <a:t>) – electronics that operate port, bus, device</a:t>
            </a:r>
          </a:p>
          <a:p>
            <a:pPr lvl="2"/>
            <a:r>
              <a:rPr lang="en-US" altLang="en-US" sz="1600" dirty="0"/>
              <a:t>Sometimes integrated</a:t>
            </a:r>
          </a:p>
          <a:p>
            <a:pPr lvl="2"/>
            <a:r>
              <a:rPr lang="en-US" altLang="en-US" sz="1600" dirty="0"/>
              <a:t>Sometimes separate circuit board (host adapter)</a:t>
            </a:r>
          </a:p>
          <a:p>
            <a:pPr lvl="2"/>
            <a:r>
              <a:rPr lang="en-US" altLang="en-US" sz="1600" dirty="0"/>
              <a:t>Contains processor, microcode, private memory, bus controller, </a:t>
            </a:r>
            <a:r>
              <a:rPr lang="en-US" altLang="en-US" sz="1600" dirty="0" err="1"/>
              <a:t>etc</a:t>
            </a:r>
            <a:endParaRPr lang="en-US" altLang="en-US" sz="1600" dirty="0"/>
          </a:p>
          <a:p>
            <a:pPr lvl="3"/>
            <a:r>
              <a:rPr lang="en-US" altLang="en-US" sz="1600" dirty="0"/>
              <a:t>Some talk to per-device controller with bus controller, microcode, memory, </a:t>
            </a:r>
            <a:r>
              <a:rPr lang="en-US" altLang="en-US" sz="1600" dirty="0" err="1"/>
              <a:t>etc</a:t>
            </a:r>
            <a:endParaRPr lang="en-US" altLang="en-US" sz="1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3936B3-95A9-ADA2-F9B6-0450B871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1030">
            <a:extLst>
              <a:ext uri="{FF2B5EF4-FFF2-40B4-BE49-F238E27FC236}">
                <a16:creationId xmlns:a16="http://schemas.microsoft.com/office/drawing/2014/main" id="{A512EC0D-5727-AE08-F413-DB0DADE1B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533" y="965726"/>
            <a:ext cx="7019871" cy="539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1026">
            <a:extLst>
              <a:ext uri="{FF2B5EF4-FFF2-40B4-BE49-F238E27FC236}">
                <a16:creationId xmlns:a16="http://schemas.microsoft.com/office/drawing/2014/main" id="{7B82919E-D880-3FD4-F446-AF6AC4CAC1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1124" y="965726"/>
            <a:ext cx="7927975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 Typical PC Bus Structure</a:t>
            </a:r>
            <a:endParaRPr lang="en-US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60B825-4701-B485-14BF-61D0FE2B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699FEEFB-26D5-9BA5-E841-D84FE697C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537" y="1057364"/>
            <a:ext cx="8229600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I/O Hardware (Cont.)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98685F08-0F1D-0F63-9339-A4028DD2F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538" y="1939979"/>
            <a:ext cx="9397770" cy="4530725"/>
          </a:xfrm>
        </p:spPr>
        <p:txBody>
          <a:bodyPr>
            <a:normAutofit/>
          </a:bodyPr>
          <a:lstStyle/>
          <a:p>
            <a:r>
              <a:rPr lang="en-US" altLang="en-US" dirty="0"/>
              <a:t>I/O instructions control devices</a:t>
            </a:r>
          </a:p>
          <a:p>
            <a:r>
              <a:rPr lang="en-US" altLang="en-US" dirty="0"/>
              <a:t>Devices usually have registers where device driver places commands, addresses, and data to write, or read data from registers after command execution</a:t>
            </a:r>
          </a:p>
          <a:p>
            <a:pPr lvl="1"/>
            <a:r>
              <a:rPr lang="en-US" altLang="en-US" dirty="0"/>
              <a:t>Data-in register, data-out register, status register, control register</a:t>
            </a:r>
          </a:p>
          <a:p>
            <a:pPr lvl="1"/>
            <a:r>
              <a:rPr lang="en-US" altLang="en-US" dirty="0"/>
              <a:t>Typically 1-4 bytes, or FIFO buffer</a:t>
            </a:r>
          </a:p>
          <a:p>
            <a:r>
              <a:rPr lang="en-US" altLang="en-US" dirty="0"/>
              <a:t>Devices have addresses, used by </a:t>
            </a:r>
          </a:p>
          <a:p>
            <a:pPr lvl="1"/>
            <a:r>
              <a:rPr lang="en-US" altLang="en-US" dirty="0"/>
              <a:t>Direct I/O instructions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Memory-mapped I/O</a:t>
            </a:r>
          </a:p>
          <a:p>
            <a:pPr lvl="2"/>
            <a:r>
              <a:rPr lang="en-US" altLang="en-US" dirty="0">
                <a:solidFill>
                  <a:srgbClr val="000000"/>
                </a:solidFill>
              </a:rPr>
              <a:t>Device data and command registers mapped to processor address space</a:t>
            </a:r>
          </a:p>
          <a:p>
            <a:pPr lvl="2"/>
            <a:r>
              <a:rPr lang="en-US" altLang="en-US" dirty="0">
                <a:solidFill>
                  <a:srgbClr val="000000"/>
                </a:solidFill>
              </a:rPr>
              <a:t>Especially for large address spaces (graphics)</a:t>
            </a:r>
          </a:p>
          <a:p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881505-AD17-94EA-B76A-F35F7EC74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BA6840F-E016-2F02-247E-CA9091CC0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0577" y="1000689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Polling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4A31025-264E-3222-BF4E-97E8E5D9FC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82376" y="1846828"/>
            <a:ext cx="8326473" cy="4415236"/>
          </a:xfrm>
        </p:spPr>
        <p:txBody>
          <a:bodyPr>
            <a:normAutofit/>
          </a:bodyPr>
          <a:lstStyle/>
          <a:p>
            <a:pPr marL="342883" indent="-342883">
              <a:buFont typeface="Monotype Sorts" charset="2"/>
              <a:buChar char="n"/>
              <a:defRPr/>
            </a:pPr>
            <a:r>
              <a:rPr lang="en-US" dirty="0">
                <a:ea typeface="ＭＳ Ｐゴシック" charset="-128"/>
              </a:rPr>
              <a:t>For each byte of I/O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dirty="0">
                <a:ea typeface="ＭＳ Ｐゴシック" charset="-128"/>
              </a:rPr>
              <a:t>Read busy bit from status register until 0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dirty="0">
                <a:ea typeface="ＭＳ Ｐゴシック" charset="-128"/>
              </a:rPr>
              <a:t>Host sets read or write bit and if write copies data into data-out register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dirty="0">
                <a:ea typeface="ＭＳ Ｐゴシック" charset="-128"/>
              </a:rPr>
              <a:t>Host sets command-ready bit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dirty="0">
                <a:ea typeface="ＭＳ Ｐゴシック" charset="-128"/>
              </a:rPr>
              <a:t>Controller sets busy bit, executes transfer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dirty="0">
                <a:ea typeface="ＭＳ Ｐゴシック" charset="-128"/>
              </a:rPr>
              <a:t>Controller clears busy bit, error bit, command-ready bit when transfer done</a:t>
            </a:r>
          </a:p>
          <a:p>
            <a:pPr marL="342883" indent="-342883">
              <a:buFont typeface="Monotype Sorts" charset="2"/>
              <a:buChar char="n"/>
              <a:defRPr/>
            </a:pPr>
            <a:r>
              <a:rPr lang="en-US" dirty="0">
                <a:ea typeface="ＭＳ Ｐゴシック" charset="-128"/>
              </a:rPr>
              <a:t>Step 1 is </a:t>
            </a:r>
            <a:r>
              <a:rPr lang="en-US" b="1" dirty="0">
                <a:solidFill>
                  <a:srgbClr val="3366FF"/>
                </a:solidFill>
                <a:ea typeface="ＭＳ Ｐゴシック" charset="-128"/>
              </a:rPr>
              <a:t>busy-wait</a:t>
            </a:r>
            <a:r>
              <a:rPr lang="en-US" b="1" dirty="0">
                <a:ea typeface="ＭＳ Ｐゴシック" charset="-128"/>
              </a:rPr>
              <a:t> </a:t>
            </a:r>
            <a:r>
              <a:rPr lang="en-US" dirty="0">
                <a:ea typeface="ＭＳ Ｐゴシック" charset="-128"/>
              </a:rPr>
              <a:t>cycle to wait for I/O from device</a:t>
            </a:r>
          </a:p>
          <a:p>
            <a:pPr marL="742913" lvl="1" indent="-285736">
              <a:buFont typeface="Monotype Sorts" charset="2"/>
              <a:buChar char="l"/>
              <a:defRPr/>
            </a:pPr>
            <a:r>
              <a:rPr lang="en-US" dirty="0">
                <a:ea typeface="ＭＳ Ｐゴシック" charset="-128"/>
              </a:rPr>
              <a:t>Reasonable if device is fast</a:t>
            </a:r>
          </a:p>
          <a:p>
            <a:pPr marL="742913" lvl="1" indent="-285736">
              <a:buFont typeface="Monotype Sorts" charset="2"/>
              <a:buChar char="l"/>
              <a:defRPr/>
            </a:pPr>
            <a:r>
              <a:rPr lang="en-US" dirty="0">
                <a:ea typeface="ＭＳ Ｐゴシック" charset="-128"/>
              </a:rPr>
              <a:t>But inefficient if device slow</a:t>
            </a:r>
          </a:p>
          <a:p>
            <a:pPr marL="742913" lvl="1" indent="-285736">
              <a:buFont typeface="Monotype Sorts" charset="2"/>
              <a:buChar char="l"/>
              <a:defRPr/>
            </a:pPr>
            <a:r>
              <a:rPr lang="en-US" dirty="0">
                <a:ea typeface="ＭＳ Ｐゴシック" charset="-128"/>
              </a:rPr>
              <a:t>CPU switches to other tasks?</a:t>
            </a:r>
          </a:p>
          <a:p>
            <a:pPr marL="1085796" lvl="2" indent="-228589">
              <a:buFont typeface="Webdings" charset="2"/>
              <a:buChar char="4"/>
              <a:defRPr/>
            </a:pPr>
            <a:r>
              <a:rPr lang="en-US" dirty="0">
                <a:ea typeface="ＭＳ Ｐゴシック" charset="-128"/>
              </a:rPr>
              <a:t>But if miss a cycle data overwritten / lost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C4E005-4D56-4F1B-70C7-5C6D60E6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8CB7133-4871-4837-DA08-C0B401A4C1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2925" y="994389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Interrupts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D45CBC1-8793-F63A-44A0-B24874D8ED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92925" y="1896088"/>
            <a:ext cx="9287991" cy="4574616"/>
          </a:xfrm>
        </p:spPr>
        <p:txBody>
          <a:bodyPr>
            <a:normAutofit/>
          </a:bodyPr>
          <a:lstStyle/>
          <a:p>
            <a:r>
              <a:rPr lang="en-US" altLang="en-US" dirty="0"/>
              <a:t>Polling can happen in 3 instruction cycles</a:t>
            </a:r>
          </a:p>
          <a:p>
            <a:pPr lvl="1"/>
            <a:r>
              <a:rPr lang="en-US" altLang="en-US" dirty="0"/>
              <a:t>Read status, logical-and to extract status bit, branch if not zero</a:t>
            </a:r>
          </a:p>
          <a:p>
            <a:pPr lvl="1"/>
            <a:r>
              <a:rPr lang="en-US" altLang="en-US" dirty="0"/>
              <a:t>How to be more efficient if non-zero infrequently?</a:t>
            </a:r>
          </a:p>
          <a:p>
            <a:r>
              <a:rPr lang="en-US" altLang="en-US" dirty="0"/>
              <a:t>CPU </a:t>
            </a:r>
            <a:r>
              <a:rPr lang="en-US" altLang="en-US" b="1" dirty="0">
                <a:solidFill>
                  <a:srgbClr val="3366FF"/>
                </a:solidFill>
              </a:rPr>
              <a:t>Interrupt-request line</a:t>
            </a:r>
            <a:r>
              <a:rPr lang="en-US" altLang="en-US" dirty="0"/>
              <a:t> triggered by I/O device</a:t>
            </a:r>
          </a:p>
          <a:p>
            <a:pPr lvl="1"/>
            <a:r>
              <a:rPr lang="en-US" altLang="en-US" dirty="0"/>
              <a:t>Checked by processor after each instruction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Interrupt handler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receives interrupts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Maskable</a:t>
            </a:r>
            <a:r>
              <a:rPr lang="en-US" altLang="en-US" dirty="0"/>
              <a:t> to ignore or delay some interrupts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Interrupt vector </a:t>
            </a:r>
            <a:r>
              <a:rPr lang="en-US" altLang="en-US" dirty="0"/>
              <a:t>to dispatch interrupt to correct handler</a:t>
            </a:r>
          </a:p>
          <a:p>
            <a:pPr lvl="1"/>
            <a:r>
              <a:rPr lang="en-US" altLang="en-US" dirty="0"/>
              <a:t>Context switch at start and end</a:t>
            </a:r>
          </a:p>
          <a:p>
            <a:pPr lvl="1"/>
            <a:r>
              <a:rPr lang="en-US" altLang="en-US" dirty="0"/>
              <a:t>Based on priority</a:t>
            </a:r>
          </a:p>
          <a:p>
            <a:pPr lvl="1"/>
            <a:r>
              <a:rPr lang="en-US" altLang="en-US" dirty="0"/>
              <a:t>Some </a:t>
            </a:r>
            <a:r>
              <a:rPr lang="en-US" altLang="en-US" b="1" dirty="0" err="1">
                <a:solidFill>
                  <a:srgbClr val="3366FF"/>
                </a:solidFill>
              </a:rPr>
              <a:t>nonmaskable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Interrupt chaining if more than one device at same interrupt number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E842CE-955B-E97C-2B48-2A192222F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116996D-704E-2F43-BD0B-EF434DE1E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4626" y="994389"/>
            <a:ext cx="7897812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Interrupt-Driven I/O Cycle</a:t>
            </a:r>
            <a:endParaRPr lang="en-US" altLang="en-US"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721214-9AC9-F087-7ACD-9D3A3799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10</a:t>
            </a:fld>
            <a:endParaRPr lang="en-US"/>
          </a:p>
        </p:txBody>
      </p:sp>
      <p:pic>
        <p:nvPicPr>
          <p:cNvPr id="13315" name="Picture 8">
            <a:extLst>
              <a:ext uri="{FF2B5EF4-FFF2-40B4-BE49-F238E27FC236}">
                <a16:creationId xmlns:a16="http://schemas.microsoft.com/office/drawing/2014/main" id="{035098EE-DAA1-23F7-ACBA-4DE9CA5FF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677" y="1570652"/>
            <a:ext cx="5802761" cy="5223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BCB9253C-E1B5-7D18-71A3-DD70E517A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398" y="987991"/>
            <a:ext cx="8229600" cy="5762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Interrupts (Cont.)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9A04E522-5D2B-27EA-22BD-17C167B49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1398" y="1997641"/>
            <a:ext cx="8171787" cy="4530725"/>
          </a:xfrm>
        </p:spPr>
        <p:txBody>
          <a:bodyPr>
            <a:normAutofit/>
          </a:bodyPr>
          <a:lstStyle/>
          <a:p>
            <a:r>
              <a:rPr lang="en-US" altLang="en-US" dirty="0"/>
              <a:t>Interrupt mechanism also used for </a:t>
            </a:r>
            <a:r>
              <a:rPr lang="en-US" altLang="en-US" b="1" dirty="0">
                <a:solidFill>
                  <a:srgbClr val="3366FF"/>
                </a:solidFill>
              </a:rPr>
              <a:t>exceptions</a:t>
            </a:r>
          </a:p>
          <a:p>
            <a:pPr lvl="1"/>
            <a:r>
              <a:rPr lang="en-US" altLang="en-US" dirty="0"/>
              <a:t>Terminate process, crash system due to hardware error</a:t>
            </a:r>
          </a:p>
          <a:p>
            <a:r>
              <a:rPr lang="en-US" altLang="en-US" dirty="0"/>
              <a:t>Page fault executes when memory access error</a:t>
            </a:r>
          </a:p>
          <a:p>
            <a:r>
              <a:rPr lang="en-US" altLang="en-US" dirty="0"/>
              <a:t>System call executes via </a:t>
            </a:r>
            <a:r>
              <a:rPr lang="en-US" altLang="en-US" b="1" dirty="0">
                <a:solidFill>
                  <a:srgbClr val="3366FF"/>
                </a:solidFill>
              </a:rPr>
              <a:t>trap</a:t>
            </a:r>
            <a:r>
              <a:rPr lang="en-US" altLang="en-US" dirty="0"/>
              <a:t> to trigger kernel to execute request</a:t>
            </a:r>
          </a:p>
          <a:p>
            <a:r>
              <a:rPr lang="en-US" altLang="en-US" dirty="0"/>
              <a:t>Multi-CPU systems can process interrupts concurrently</a:t>
            </a:r>
          </a:p>
          <a:p>
            <a:pPr lvl="1"/>
            <a:r>
              <a:rPr lang="en-US" altLang="en-US" dirty="0"/>
              <a:t>If operating system designed to handle it</a:t>
            </a:r>
          </a:p>
          <a:p>
            <a:r>
              <a:rPr lang="en-US" altLang="en-US" dirty="0"/>
              <a:t>Used for time-sensitive processing, frequent, must be fast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212F39-D4D1-683C-5B30-C07D7C92A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2D23D7D-E3ED-5A34-4837-5DDE4EDD2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44327" y="97547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Direct Memory Access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7D07B88-D56C-F71F-1D1E-4324FD9B20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44327" y="1779937"/>
            <a:ext cx="9299650" cy="4876800"/>
          </a:xfrm>
        </p:spPr>
        <p:txBody>
          <a:bodyPr>
            <a:normAutofit/>
          </a:bodyPr>
          <a:lstStyle/>
          <a:p>
            <a:r>
              <a:rPr lang="en-US" altLang="en-US" dirty="0"/>
              <a:t>Used to avoid </a:t>
            </a:r>
            <a:r>
              <a:rPr lang="en-US" altLang="en-US" b="1" dirty="0">
                <a:solidFill>
                  <a:srgbClr val="3366FF"/>
                </a:solidFill>
              </a:rPr>
              <a:t>programmed I/O</a:t>
            </a:r>
            <a:r>
              <a:rPr lang="en-US" altLang="en-US" dirty="0"/>
              <a:t> (one byte at a time) for large data movement </a:t>
            </a:r>
          </a:p>
          <a:p>
            <a:r>
              <a:rPr lang="en-US" altLang="en-US" dirty="0"/>
              <a:t>Requires </a:t>
            </a:r>
            <a:r>
              <a:rPr lang="en-US" altLang="en-US" b="1" dirty="0">
                <a:solidFill>
                  <a:srgbClr val="3366FF"/>
                </a:solidFill>
              </a:rPr>
              <a:t>DMA</a:t>
            </a:r>
            <a:r>
              <a:rPr lang="en-US" altLang="en-US" dirty="0"/>
              <a:t> controller</a:t>
            </a:r>
          </a:p>
          <a:p>
            <a:r>
              <a:rPr lang="en-US" altLang="en-US" dirty="0"/>
              <a:t>Bypasses CPU to transfer data directly between I/O device and memory </a:t>
            </a:r>
            <a:endParaRPr lang="en-US" altLang="en-US" sz="800" dirty="0"/>
          </a:p>
          <a:p>
            <a:r>
              <a:rPr lang="en-US" altLang="en-US" dirty="0"/>
              <a:t>OS writes DMA command block into memory </a:t>
            </a:r>
          </a:p>
          <a:p>
            <a:pPr lvl="1"/>
            <a:r>
              <a:rPr lang="en-US" altLang="en-US" sz="1600" dirty="0"/>
              <a:t>Source and destination addresses</a:t>
            </a:r>
          </a:p>
          <a:p>
            <a:pPr lvl="1"/>
            <a:r>
              <a:rPr lang="en-US" altLang="en-US" sz="1600" dirty="0"/>
              <a:t>Read or write mode</a:t>
            </a:r>
          </a:p>
          <a:p>
            <a:pPr lvl="1"/>
            <a:r>
              <a:rPr lang="en-US" altLang="en-US" sz="1600" dirty="0"/>
              <a:t>Count of bytes</a:t>
            </a:r>
          </a:p>
          <a:p>
            <a:pPr lvl="1"/>
            <a:r>
              <a:rPr lang="en-US" altLang="en-US" sz="1600" dirty="0"/>
              <a:t>Writes location of command block to DMA controller</a:t>
            </a:r>
          </a:p>
          <a:p>
            <a:pPr lvl="1"/>
            <a:r>
              <a:rPr lang="en-US" altLang="en-US" sz="1600" dirty="0"/>
              <a:t>Bus mastering of DMA controller – grabs bus from CPU</a:t>
            </a:r>
          </a:p>
          <a:p>
            <a:pPr lvl="2"/>
            <a:r>
              <a:rPr lang="en-US" altLang="en-US" sz="1600" b="1" dirty="0">
                <a:solidFill>
                  <a:srgbClr val="3366FF"/>
                </a:solidFill>
              </a:rPr>
              <a:t>Cycle stealing </a:t>
            </a:r>
            <a:r>
              <a:rPr lang="en-US" altLang="en-US" sz="1600" dirty="0"/>
              <a:t>from CPU but still much more efficient</a:t>
            </a:r>
          </a:p>
          <a:p>
            <a:pPr lvl="1"/>
            <a:r>
              <a:rPr lang="en-US" altLang="en-US" sz="1600" dirty="0"/>
              <a:t>When done, interrupts to signal completion</a:t>
            </a:r>
            <a:endParaRPr lang="en-US" altLang="en-US" dirty="0"/>
          </a:p>
          <a:p>
            <a:r>
              <a:rPr lang="en-US" altLang="en-US" dirty="0"/>
              <a:t>Version that is aware of virtual addresses can be even more efficient - </a:t>
            </a:r>
            <a:r>
              <a:rPr lang="en-US" altLang="en-US" b="1" dirty="0">
                <a:solidFill>
                  <a:srgbClr val="3366FF"/>
                </a:solidFill>
              </a:rPr>
              <a:t>DVMA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D3A73-7843-0ECD-5126-0B720C265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61D71AE-F617-93CD-B055-573CCE4012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8065" y="984640"/>
            <a:ext cx="7751762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Application I/O Interface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80A9FCE-E88A-3221-D3A7-7BC6E99750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68065" y="1791747"/>
            <a:ext cx="9957883" cy="4530725"/>
          </a:xfrm>
        </p:spPr>
        <p:txBody>
          <a:bodyPr>
            <a:normAutofit/>
          </a:bodyPr>
          <a:lstStyle/>
          <a:p>
            <a:r>
              <a:rPr lang="en-US" altLang="en-US" dirty="0"/>
              <a:t>I/O system calls encapsulate device behaviors in generic classes</a:t>
            </a:r>
          </a:p>
          <a:p>
            <a:r>
              <a:rPr lang="en-US" altLang="en-US" dirty="0"/>
              <a:t>Device-driver layer hides differences among I/O controllers from kernel</a:t>
            </a:r>
          </a:p>
          <a:p>
            <a:r>
              <a:rPr lang="en-US" altLang="en-US" dirty="0"/>
              <a:t>New devices talking already-implemented protocols need no extra work</a:t>
            </a:r>
          </a:p>
          <a:p>
            <a:r>
              <a:rPr lang="en-US" altLang="en-US" dirty="0"/>
              <a:t>Each OS has its own I/O subsystem structures and device driver frameworks</a:t>
            </a:r>
          </a:p>
          <a:p>
            <a:r>
              <a:rPr lang="en-US" altLang="en-US" dirty="0"/>
              <a:t>Devices vary in many dimensions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Character-stream</a:t>
            </a:r>
            <a:r>
              <a:rPr lang="en-US" altLang="en-US" b="1" dirty="0"/>
              <a:t> </a:t>
            </a:r>
            <a:r>
              <a:rPr lang="en-US" altLang="en-US" dirty="0"/>
              <a:t>or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block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Sequential</a:t>
            </a:r>
            <a:r>
              <a:rPr lang="en-US" altLang="en-US" b="1" dirty="0"/>
              <a:t>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3366FF"/>
                </a:solidFill>
              </a:rPr>
              <a:t>random-access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Synchronous </a:t>
            </a:r>
            <a:r>
              <a:rPr lang="en-US" altLang="en-US" dirty="0">
                <a:solidFill>
                  <a:srgbClr val="000000"/>
                </a:solidFill>
              </a:rPr>
              <a:t>or</a:t>
            </a:r>
            <a:r>
              <a:rPr lang="en-US" altLang="en-US" b="1" dirty="0">
                <a:solidFill>
                  <a:srgbClr val="3366FF"/>
                </a:solidFill>
              </a:rPr>
              <a:t> asynchronous </a:t>
            </a:r>
            <a:r>
              <a:rPr lang="en-US" altLang="en-US" dirty="0">
                <a:solidFill>
                  <a:srgbClr val="000000"/>
                </a:solidFill>
              </a:rPr>
              <a:t>(or both)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Sharable</a:t>
            </a:r>
            <a:r>
              <a:rPr lang="en-US" altLang="en-US" b="1" dirty="0"/>
              <a:t> </a:t>
            </a:r>
            <a:r>
              <a:rPr lang="en-US" altLang="en-US" dirty="0"/>
              <a:t>or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dedicated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Speed of operation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read-write</a:t>
            </a:r>
            <a:r>
              <a:rPr lang="en-US" altLang="en-US" b="1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read only</a:t>
            </a:r>
            <a:r>
              <a:rPr lang="en-US" altLang="en-US" b="1" dirty="0"/>
              <a:t>, </a:t>
            </a:r>
            <a:r>
              <a:rPr lang="en-US" altLang="en-US" dirty="0"/>
              <a:t>or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write only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0FBE5F-E78E-D01D-F922-0825B71F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E56BF53-C977-E1B6-8253-94F2685EAF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95622" y="1019614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 Kernel I/O Structure</a:t>
            </a:r>
            <a:endParaRPr lang="en-US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8EB79-66C9-888F-9920-3A4B372C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14</a:t>
            </a:fld>
            <a:endParaRPr lang="en-US"/>
          </a:p>
        </p:txBody>
      </p:sp>
      <p:pic>
        <p:nvPicPr>
          <p:cNvPr id="19459" name="Picture 5">
            <a:extLst>
              <a:ext uri="{FF2B5EF4-FFF2-40B4-BE49-F238E27FC236}">
                <a16:creationId xmlns:a16="http://schemas.microsoft.com/office/drawing/2014/main" id="{1BAD1AEE-44C7-8412-4063-DE97F1375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913" y="1770717"/>
            <a:ext cx="6608642" cy="4974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9B6D5F6-919E-FE29-3437-8C38347B9A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8902" y="989627"/>
            <a:ext cx="7772400" cy="5984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Characteristics of I/O Devices</a:t>
            </a:r>
            <a:endParaRPr lang="en-US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E12256-D9AF-0011-5D30-3AE3AC6A9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15</a:t>
            </a:fld>
            <a:endParaRPr lang="en-US"/>
          </a:p>
        </p:txBody>
      </p:sp>
      <p:pic>
        <p:nvPicPr>
          <p:cNvPr id="20483" name="Picture 5">
            <a:extLst>
              <a:ext uri="{FF2B5EF4-FFF2-40B4-BE49-F238E27FC236}">
                <a16:creationId xmlns:a16="http://schemas.microsoft.com/office/drawing/2014/main" id="{31345659-F91A-7CE6-2906-1074C9993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014" y="1706049"/>
            <a:ext cx="6805887" cy="498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C21B0069-3A55-39F6-BB2A-A5445A56A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566" y="988083"/>
            <a:ext cx="7689850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Characteristics of I/O Devices (Cont.)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46E5CF2E-FED3-0450-7F6C-98B6E2B63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0428" y="1746819"/>
            <a:ext cx="9326880" cy="4042279"/>
          </a:xfrm>
        </p:spPr>
        <p:txBody>
          <a:bodyPr>
            <a:normAutofit/>
          </a:bodyPr>
          <a:lstStyle/>
          <a:p>
            <a:r>
              <a:rPr lang="en-US" altLang="en-US" dirty="0"/>
              <a:t>Subtleties of devices handled by device drivers</a:t>
            </a:r>
          </a:p>
          <a:p>
            <a:r>
              <a:rPr lang="en-US" altLang="en-US" dirty="0"/>
              <a:t>Broadly I/O devices can be grouped by the OS into</a:t>
            </a:r>
          </a:p>
          <a:p>
            <a:pPr lvl="1"/>
            <a:r>
              <a:rPr lang="en-US" altLang="en-US" dirty="0"/>
              <a:t>Block I/O</a:t>
            </a:r>
          </a:p>
          <a:p>
            <a:pPr lvl="1"/>
            <a:r>
              <a:rPr lang="en-US" altLang="en-US" dirty="0"/>
              <a:t>Character I/O (Stream)</a:t>
            </a:r>
          </a:p>
          <a:p>
            <a:pPr lvl="1"/>
            <a:r>
              <a:rPr lang="en-US" altLang="en-US" dirty="0"/>
              <a:t>Memory-mapped file access</a:t>
            </a:r>
          </a:p>
          <a:p>
            <a:pPr lvl="1"/>
            <a:r>
              <a:rPr lang="en-US" altLang="en-US" dirty="0"/>
              <a:t>Network sockets</a:t>
            </a:r>
          </a:p>
          <a:p>
            <a:r>
              <a:rPr lang="en-US" altLang="en-US" dirty="0"/>
              <a:t>For direct manipulation of I/O device specific characteristics, usually an escape / back door</a:t>
            </a:r>
          </a:p>
          <a:p>
            <a:pPr lvl="1"/>
            <a:r>
              <a:rPr lang="en-US" altLang="en-US" dirty="0"/>
              <a:t>Unix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b="1" dirty="0"/>
              <a:t> </a:t>
            </a:r>
            <a:r>
              <a:rPr lang="en-US" altLang="en-US" dirty="0"/>
              <a:t>call to send arbitrary bits to a device control register and data to device data register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A7B7AD-5B8F-7A4B-65D9-EFC2B5BF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C87A30-6827-F1EA-4B83-26CD2E29AAE2}"/>
              </a:ext>
            </a:extLst>
          </p:cNvPr>
          <p:cNvSpPr txBox="1"/>
          <p:nvPr/>
        </p:nvSpPr>
        <p:spPr>
          <a:xfrm>
            <a:off x="1515067" y="5295428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What is </a:t>
            </a:r>
            <a:r>
              <a:rPr lang="en-US" dirty="0" err="1">
                <a:hlinkClick r:id="rId2"/>
              </a:rPr>
              <a:t>ioctl</a:t>
            </a:r>
            <a:r>
              <a:rPr lang="en-US" dirty="0">
                <a:hlinkClick r:id="rId2"/>
              </a:rPr>
              <a:t> in Linux? - Scaler Topics</a:t>
            </a:r>
            <a:endParaRPr lang="en-HK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43FDAB4-6A98-8394-904A-2AEFE28450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93575" y="944616"/>
            <a:ext cx="7840662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Block and Character Devices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3356062-10D7-7E85-8216-309BF8D6F6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0874" y="1939979"/>
            <a:ext cx="8035191" cy="4530725"/>
          </a:xfrm>
        </p:spPr>
        <p:txBody>
          <a:bodyPr>
            <a:normAutofit/>
          </a:bodyPr>
          <a:lstStyle/>
          <a:p>
            <a:r>
              <a:rPr lang="en-US" altLang="en-US" dirty="0"/>
              <a:t>Block devices include disk drives</a:t>
            </a:r>
          </a:p>
          <a:p>
            <a:pPr lvl="1"/>
            <a:r>
              <a:rPr lang="en-US" altLang="en-US" dirty="0"/>
              <a:t>Commands include read, write, seek 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Raw I/O</a:t>
            </a:r>
            <a:r>
              <a:rPr lang="en-US" altLang="en-US" dirty="0"/>
              <a:t>,</a:t>
            </a:r>
            <a:r>
              <a:rPr lang="en-US" altLang="en-US" b="1" dirty="0">
                <a:solidFill>
                  <a:srgbClr val="3366FF"/>
                </a:solidFill>
              </a:rPr>
              <a:t> direct I/O</a:t>
            </a:r>
            <a:r>
              <a:rPr lang="en-US" altLang="en-US" dirty="0"/>
              <a:t>,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or file-system access</a:t>
            </a:r>
          </a:p>
          <a:p>
            <a:pPr lvl="1"/>
            <a:r>
              <a:rPr lang="en-US" altLang="en-US" dirty="0"/>
              <a:t>Memory-mapped file access possible</a:t>
            </a:r>
          </a:p>
          <a:p>
            <a:pPr lvl="2"/>
            <a:r>
              <a:rPr lang="en-US" altLang="en-US" dirty="0"/>
              <a:t>File mapped to virtual memory and clusters brought via demand paging</a:t>
            </a:r>
          </a:p>
          <a:p>
            <a:pPr lvl="1"/>
            <a:r>
              <a:rPr lang="en-US" altLang="en-US" dirty="0"/>
              <a:t>DMA</a:t>
            </a:r>
          </a:p>
          <a:p>
            <a:r>
              <a:rPr lang="en-US" altLang="en-US" dirty="0"/>
              <a:t>Character devices include keyboards, mice, serial ports</a:t>
            </a:r>
          </a:p>
          <a:p>
            <a:pPr lvl="1"/>
            <a:r>
              <a:rPr lang="en-US" altLang="en-US" dirty="0"/>
              <a:t>Commands include </a:t>
            </a:r>
            <a:r>
              <a:rPr lang="en-US" altLang="en-US" b="1" dirty="0">
                <a:latin typeface="Courier New" panose="02070309020205020404" pitchFamily="49" charset="0"/>
              </a:rPr>
              <a:t>get()</a:t>
            </a:r>
            <a:r>
              <a:rPr lang="en-US" altLang="en-US" dirty="0">
                <a:latin typeface="Courier New" panose="02070309020205020404" pitchFamily="49" charset="0"/>
              </a:rPr>
              <a:t>, </a:t>
            </a:r>
            <a:r>
              <a:rPr lang="en-US" altLang="en-US" b="1" dirty="0">
                <a:latin typeface="Courier New" panose="02070309020205020404" pitchFamily="49" charset="0"/>
              </a:rPr>
              <a:t>put()</a:t>
            </a:r>
            <a:endParaRPr lang="en-US" altLang="en-US" b="1" dirty="0"/>
          </a:p>
          <a:p>
            <a:pPr lvl="1"/>
            <a:r>
              <a:rPr lang="en-US" altLang="en-US" dirty="0"/>
              <a:t>Libraries layered on top allow line editing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4FC108-A5F8-4495-BF55-33D472645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A479DA-947E-83AE-D6B7-8AC330A58A6A}"/>
              </a:ext>
            </a:extLst>
          </p:cNvPr>
          <p:cNvSpPr txBox="1"/>
          <p:nvPr/>
        </p:nvSpPr>
        <p:spPr>
          <a:xfrm>
            <a:off x="1546316" y="5450618"/>
            <a:ext cx="9857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dirty="0">
                <a:hlinkClick r:id="rId3"/>
              </a:rPr>
              <a:t>https://www.geeksforgeeks.org/operating-systems/</a:t>
            </a:r>
            <a:r>
              <a:rPr lang="en-HK">
                <a:hlinkClick r:id="rId3"/>
              </a:rPr>
              <a:t>block-and-character-devices-in-operating-system/</a:t>
            </a:r>
            <a:endParaRPr lang="en-HK"/>
          </a:p>
          <a:p>
            <a:endParaRPr lang="en-HK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611F7BB-B8F1-DA53-63FD-990225E5D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6886" y="94535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Network Devices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8974A05-5590-8BB2-8BBF-C95EC8B35C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56886" y="1819967"/>
            <a:ext cx="8392510" cy="4530725"/>
          </a:xfrm>
        </p:spPr>
        <p:txBody>
          <a:bodyPr>
            <a:normAutofit/>
          </a:bodyPr>
          <a:lstStyle/>
          <a:p>
            <a:r>
              <a:rPr lang="en-US" altLang="en-US" dirty="0"/>
              <a:t>Varying enough from block and character to have own interface</a:t>
            </a:r>
          </a:p>
          <a:p>
            <a:r>
              <a:rPr lang="en-US" altLang="en-US" dirty="0"/>
              <a:t>Linux, Unix, Windows and many others include </a:t>
            </a:r>
            <a:r>
              <a:rPr lang="en-US" altLang="en-US" b="1" dirty="0">
                <a:solidFill>
                  <a:srgbClr val="3366FF"/>
                </a:solidFill>
              </a:rPr>
              <a:t>socket </a:t>
            </a:r>
            <a:r>
              <a:rPr lang="en-US" altLang="en-US" dirty="0"/>
              <a:t>interface</a:t>
            </a:r>
          </a:p>
          <a:p>
            <a:pPr lvl="1"/>
            <a:r>
              <a:rPr lang="en-US" altLang="en-US" dirty="0"/>
              <a:t>Separates network protocol from network operation</a:t>
            </a:r>
          </a:p>
          <a:p>
            <a:r>
              <a:rPr lang="en-US" altLang="en-US" dirty="0"/>
              <a:t>Approaches vary widely (pipes, FIFOs, streams, queues, mailboxes)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0F8811-DA96-51B3-D15A-BA6320A03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526166D-518C-9E97-A6F0-B99698313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4455" y="97160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Clocks and Timers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D1C7D3F-75FC-1112-27BC-E0E1D9C05E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24455" y="1939979"/>
            <a:ext cx="8487103" cy="4530725"/>
          </a:xfrm>
        </p:spPr>
        <p:txBody>
          <a:bodyPr>
            <a:normAutofit/>
          </a:bodyPr>
          <a:lstStyle/>
          <a:p>
            <a:r>
              <a:rPr lang="en-US" altLang="en-US" dirty="0"/>
              <a:t>Provide current time, elapsed time, timer</a:t>
            </a:r>
          </a:p>
          <a:p>
            <a:r>
              <a:rPr lang="en-US" altLang="en-US" dirty="0"/>
              <a:t>Normal resolution about 1/60 second</a:t>
            </a:r>
          </a:p>
          <a:p>
            <a:r>
              <a:rPr lang="en-US" altLang="en-US" dirty="0"/>
              <a:t>Some systems provide higher-resolution timers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Programmable interval timer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used for timings, periodic interrupts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C78258-E045-69BD-2523-1E71D781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1098B81-1DF2-095D-159B-E82DD29CA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Nonblocking and Asynchronous I/O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0C8D714-5A99-B035-D619-0E459C0756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Blocking</a:t>
            </a:r>
            <a:r>
              <a:rPr lang="en-US" altLang="en-US" dirty="0"/>
              <a:t> - process suspended until I/O completed</a:t>
            </a:r>
          </a:p>
          <a:p>
            <a:pPr lvl="1"/>
            <a:r>
              <a:rPr lang="en-US" altLang="en-US" dirty="0"/>
              <a:t>Easy to use and understand</a:t>
            </a:r>
          </a:p>
          <a:p>
            <a:pPr lvl="1"/>
            <a:r>
              <a:rPr lang="en-US" altLang="en-US" dirty="0"/>
              <a:t>Insufficient for some needs</a:t>
            </a:r>
          </a:p>
          <a:p>
            <a:r>
              <a:rPr lang="en-US" altLang="en-US" b="1" dirty="0"/>
              <a:t>Nonblocking</a:t>
            </a:r>
            <a:r>
              <a:rPr lang="en-US" altLang="en-US" dirty="0"/>
              <a:t> - I/O call returns as much as available</a:t>
            </a:r>
          </a:p>
          <a:p>
            <a:pPr lvl="1"/>
            <a:r>
              <a:rPr lang="en-US" altLang="en-US" dirty="0"/>
              <a:t>User interface, data copy (buffered I/O)</a:t>
            </a:r>
          </a:p>
          <a:p>
            <a:pPr lvl="1"/>
            <a:r>
              <a:rPr lang="en-US" altLang="en-US" dirty="0"/>
              <a:t>Implemented via multi-threading</a:t>
            </a:r>
          </a:p>
          <a:p>
            <a:pPr lvl="1"/>
            <a:r>
              <a:rPr lang="en-US" altLang="en-US" dirty="0"/>
              <a:t>Returns quickly with count of bytes read or written</a:t>
            </a:r>
          </a:p>
          <a:p>
            <a:r>
              <a:rPr lang="en-US" altLang="en-US" b="1" dirty="0"/>
              <a:t>Asynchronous</a:t>
            </a:r>
            <a:r>
              <a:rPr lang="en-US" altLang="en-US" dirty="0"/>
              <a:t> - process runs while I/O executes</a:t>
            </a:r>
          </a:p>
          <a:p>
            <a:pPr lvl="1"/>
            <a:r>
              <a:rPr lang="en-US" altLang="en-US" dirty="0"/>
              <a:t>Difficult to use</a:t>
            </a:r>
          </a:p>
          <a:p>
            <a:pPr lvl="1"/>
            <a:r>
              <a:rPr lang="en-US" altLang="en-US" dirty="0"/>
              <a:t>I/O subsystem signals process when I/O completed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5AA0B-3C7C-7874-70B3-BB2087D9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39E9847-BF7C-EA14-D74A-98E78463D8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7518" y="102592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Two I/O Methods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3906FF-44B0-4974-0AD4-8686AF6D1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21</a:t>
            </a:fld>
            <a:endParaRPr lang="en-US"/>
          </a:p>
        </p:txBody>
      </p:sp>
      <p:sp>
        <p:nvSpPr>
          <p:cNvPr id="26627" name="Text Box 4">
            <a:extLst>
              <a:ext uri="{FF2B5EF4-FFF2-40B4-BE49-F238E27FC236}">
                <a16:creationId xmlns:a16="http://schemas.microsoft.com/office/drawing/2014/main" id="{045B9C1E-E5E2-3CAB-5099-6F7FB9312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0760" y="5782464"/>
            <a:ext cx="1735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Synchronous</a:t>
            </a:r>
          </a:p>
        </p:txBody>
      </p:sp>
      <p:sp>
        <p:nvSpPr>
          <p:cNvPr id="26628" name="Text Box 5">
            <a:extLst>
              <a:ext uri="{FF2B5EF4-FFF2-40B4-BE49-F238E27FC236}">
                <a16:creationId xmlns:a16="http://schemas.microsoft.com/office/drawing/2014/main" id="{3F675FBB-1915-4DDC-ABA1-651C9EAA8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3796" y="5801514"/>
            <a:ext cx="308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Asynchronous</a:t>
            </a:r>
          </a:p>
        </p:txBody>
      </p:sp>
      <p:pic>
        <p:nvPicPr>
          <p:cNvPr id="26629" name="Picture 6">
            <a:extLst>
              <a:ext uri="{FF2B5EF4-FFF2-40B4-BE49-F238E27FC236}">
                <a16:creationId xmlns:a16="http://schemas.microsoft.com/office/drawing/2014/main" id="{9314615D-DC23-915E-9AB1-1BEC844DD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535" y="2183603"/>
            <a:ext cx="6200775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2344C27-BAD1-B11C-DE9E-B35E4001A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47503" y="970016"/>
            <a:ext cx="8004755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Vectored I/O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396702A-B792-5466-C03D-16E25A415B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47503" y="1939979"/>
            <a:ext cx="9151432" cy="4530725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3366FF"/>
                </a:solidFill>
              </a:rPr>
              <a:t>Vectored I/O </a:t>
            </a:r>
            <a:r>
              <a:rPr lang="en-US" altLang="en-US" dirty="0"/>
              <a:t>allows one system call to perform multiple I/O operations</a:t>
            </a:r>
          </a:p>
          <a:p>
            <a:r>
              <a:rPr lang="en-US" altLang="en-US" dirty="0"/>
              <a:t>For example, Unix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readve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accepts a vector of multiple buffers to read into or write from</a:t>
            </a:r>
          </a:p>
          <a:p>
            <a:r>
              <a:rPr lang="en-US" altLang="en-US" dirty="0"/>
              <a:t>This scatter-gather method better than multiple individual I/O calls</a:t>
            </a:r>
          </a:p>
          <a:p>
            <a:pPr lvl="1"/>
            <a:r>
              <a:rPr lang="en-US" altLang="en-US" dirty="0"/>
              <a:t>Decreases context switching and system call overhead</a:t>
            </a:r>
          </a:p>
          <a:p>
            <a:pPr lvl="1"/>
            <a:r>
              <a:rPr lang="en-US" altLang="en-US" dirty="0"/>
              <a:t>Some versions provide atomicity</a:t>
            </a:r>
          </a:p>
          <a:p>
            <a:pPr lvl="2"/>
            <a:r>
              <a:rPr lang="en-US" altLang="en-US" dirty="0"/>
              <a:t>Avoid for example worry about multiple threads changing data as reads / writes occurring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D08DF6-F9E0-6163-DB8A-CFE72560C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5936DA9-AF9D-9461-FD43-45850CEAB8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3341" y="989756"/>
            <a:ext cx="78295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Kernel I/O Subsystem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9E68515-E92F-1350-C2A2-3F3D940FAB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3816" y="1808906"/>
            <a:ext cx="9256918" cy="4826000"/>
          </a:xfrm>
        </p:spPr>
        <p:txBody>
          <a:bodyPr>
            <a:normAutofit/>
          </a:bodyPr>
          <a:lstStyle/>
          <a:p>
            <a:r>
              <a:rPr lang="en-US" altLang="en-US" dirty="0"/>
              <a:t>Scheduling</a:t>
            </a:r>
          </a:p>
          <a:p>
            <a:pPr lvl="1"/>
            <a:r>
              <a:rPr lang="en-US" altLang="en-US" dirty="0"/>
              <a:t>Some I/O request ordering via per-device queue</a:t>
            </a:r>
          </a:p>
          <a:p>
            <a:pPr lvl="1"/>
            <a:r>
              <a:rPr lang="en-US" altLang="en-US" dirty="0"/>
              <a:t>Some OSs try fairness</a:t>
            </a:r>
          </a:p>
          <a:p>
            <a:pPr lvl="1"/>
            <a:r>
              <a:rPr lang="en-US" altLang="en-US" dirty="0"/>
              <a:t>Some implement Quality Of Service (i.e. IPQOS)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Buffering</a:t>
            </a:r>
            <a:r>
              <a:rPr lang="en-US" altLang="en-US" dirty="0"/>
              <a:t> - store data in memory while transferring between devices</a:t>
            </a:r>
          </a:p>
          <a:p>
            <a:pPr lvl="1"/>
            <a:r>
              <a:rPr lang="en-US" altLang="en-US" dirty="0"/>
              <a:t>To cope with device speed mismatch</a:t>
            </a:r>
          </a:p>
          <a:p>
            <a:pPr lvl="1"/>
            <a:r>
              <a:rPr lang="en-US" altLang="en-US" dirty="0"/>
              <a:t>To cope with device transfer size mismatch</a:t>
            </a:r>
          </a:p>
          <a:p>
            <a:pPr lvl="1"/>
            <a:r>
              <a:rPr lang="en-US" altLang="en-US" dirty="0"/>
              <a:t>To maintain </a:t>
            </a:r>
            <a:r>
              <a:rPr lang="ja-JP" altLang="en-US" dirty="0"/>
              <a:t>“</a:t>
            </a:r>
            <a:r>
              <a:rPr lang="en-US" altLang="ja-JP" dirty="0"/>
              <a:t>copy semantics</a:t>
            </a:r>
            <a:r>
              <a:rPr lang="ja-JP" altLang="en-US" dirty="0"/>
              <a:t>”</a:t>
            </a:r>
            <a:endParaRPr lang="en-US" altLang="ja-JP" dirty="0"/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Double buffering </a:t>
            </a:r>
            <a:r>
              <a:rPr lang="en-US" altLang="en-US" dirty="0"/>
              <a:t>– two copies of the data</a:t>
            </a:r>
          </a:p>
          <a:p>
            <a:pPr lvl="2"/>
            <a:r>
              <a:rPr lang="en-US" altLang="en-US" dirty="0"/>
              <a:t>Kernel and user</a:t>
            </a:r>
          </a:p>
          <a:p>
            <a:pPr lvl="2"/>
            <a:r>
              <a:rPr lang="en-US" altLang="en-US" dirty="0"/>
              <a:t>Varying sizes</a:t>
            </a:r>
          </a:p>
          <a:p>
            <a:pPr lvl="2"/>
            <a:r>
              <a:rPr lang="en-US" altLang="en-US" dirty="0"/>
              <a:t>Full  / being processed and not-full / being used</a:t>
            </a:r>
          </a:p>
          <a:p>
            <a:pPr lvl="2"/>
            <a:r>
              <a:rPr lang="en-US" altLang="en-US" dirty="0"/>
              <a:t>Copy-on-write can be used for efficiency in some cases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B1D8F0-B1BB-EFCA-7A45-5A1147D61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CB5BB71-7CB1-1864-CB22-66B9C6FEBA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3812" y="967401"/>
            <a:ext cx="811061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Device-status 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47F2C1-1A99-BFB4-3C7B-23BB674F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24</a:t>
            </a:fld>
            <a:endParaRPr lang="en-US"/>
          </a:p>
        </p:txBody>
      </p:sp>
      <p:pic>
        <p:nvPicPr>
          <p:cNvPr id="29699" name="Picture 4" descr="13">
            <a:extLst>
              <a:ext uri="{FF2B5EF4-FFF2-40B4-BE49-F238E27FC236}">
                <a16:creationId xmlns:a16="http://schemas.microsoft.com/office/drawing/2014/main" id="{F863BF04-C2B7-C1BB-B2DA-251FD05AB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804" y="1826230"/>
            <a:ext cx="8224346" cy="4540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CA585CFF-4D23-F362-7AE2-BD22DE14DD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9189" y="943029"/>
            <a:ext cx="7908925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Kernel I/O Subsystem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619A1709-E287-1AE2-3BBF-AB8A3C1EB1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69038" y="1939979"/>
            <a:ext cx="8683056" cy="4530725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3366FF"/>
                </a:solidFill>
              </a:rPr>
              <a:t>Caching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- faster device holding copy of data</a:t>
            </a:r>
          </a:p>
          <a:p>
            <a:pPr lvl="1"/>
            <a:r>
              <a:rPr lang="en-US" altLang="en-US" dirty="0"/>
              <a:t>Always just a copy</a:t>
            </a:r>
          </a:p>
          <a:p>
            <a:pPr lvl="1"/>
            <a:r>
              <a:rPr lang="en-US" altLang="en-US" dirty="0"/>
              <a:t>Key to performance</a:t>
            </a:r>
          </a:p>
          <a:p>
            <a:pPr lvl="1"/>
            <a:r>
              <a:rPr lang="en-US" altLang="en-US" dirty="0"/>
              <a:t>Sometimes combined with buffering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Spooling</a:t>
            </a:r>
            <a:r>
              <a:rPr lang="en-US" altLang="en-US" dirty="0"/>
              <a:t> - hold output for a device</a:t>
            </a:r>
          </a:p>
          <a:p>
            <a:pPr lvl="1"/>
            <a:r>
              <a:rPr lang="en-US" altLang="en-US" dirty="0"/>
              <a:t>If device can serve only one request at a time </a:t>
            </a:r>
          </a:p>
          <a:p>
            <a:pPr lvl="1"/>
            <a:r>
              <a:rPr lang="en-US" altLang="en-US" dirty="0"/>
              <a:t>i.e., Printing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Device reservation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- provides exclusive access to a device</a:t>
            </a:r>
          </a:p>
          <a:p>
            <a:pPr lvl="1"/>
            <a:r>
              <a:rPr lang="en-US" altLang="en-US" dirty="0"/>
              <a:t>System calls for allocation and de-allocation</a:t>
            </a:r>
          </a:p>
          <a:p>
            <a:pPr lvl="1"/>
            <a:r>
              <a:rPr lang="en-US" altLang="en-US" dirty="0"/>
              <a:t>Watch out for deadlock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FA37F7-52E3-73FA-7DCF-3C2DA4BA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831C966-0ECE-5862-B308-CDB5DD252F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7067" y="981689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Error Handling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B2E7BC5-72C4-BBB5-1EE2-D4D7F66527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37068" y="2059603"/>
            <a:ext cx="9073580" cy="3735802"/>
          </a:xfrm>
        </p:spPr>
        <p:txBody>
          <a:bodyPr>
            <a:normAutofit/>
          </a:bodyPr>
          <a:lstStyle/>
          <a:p>
            <a:r>
              <a:rPr lang="en-US" altLang="en-US" dirty="0"/>
              <a:t>OS can recover from disk read, device unavailable, transient write failures</a:t>
            </a:r>
          </a:p>
          <a:p>
            <a:pPr lvl="1"/>
            <a:r>
              <a:rPr lang="en-US" altLang="en-US" dirty="0"/>
              <a:t>Retry a read or write, for example</a:t>
            </a:r>
          </a:p>
          <a:p>
            <a:pPr lvl="1"/>
            <a:r>
              <a:rPr lang="en-US" altLang="en-US" dirty="0"/>
              <a:t>Some systems more advanced – Solaris FMA, AIX </a:t>
            </a:r>
          </a:p>
          <a:p>
            <a:pPr lvl="2"/>
            <a:r>
              <a:rPr lang="en-US" altLang="en-US" dirty="0"/>
              <a:t>Track error frequencies, stop using device with increasing frequency of retry-able errors</a:t>
            </a:r>
          </a:p>
          <a:p>
            <a:r>
              <a:rPr lang="en-US" altLang="en-US" dirty="0"/>
              <a:t>Most return an error number or code when I/O request fails </a:t>
            </a:r>
          </a:p>
          <a:p>
            <a:r>
              <a:rPr lang="en-US" altLang="en-US" dirty="0"/>
              <a:t>System error logs hold problem reports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921540-6F28-888C-62A8-D7FA64D1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842041AE-1178-A192-2A1B-B6ACEA48BD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7967" y="95488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I/O Protection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C8DBB41-6D08-4BC2-0782-3210BBD447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37967" y="1879250"/>
            <a:ext cx="9628527" cy="4398986"/>
          </a:xfrm>
        </p:spPr>
        <p:txBody>
          <a:bodyPr>
            <a:normAutofit/>
          </a:bodyPr>
          <a:lstStyle/>
          <a:p>
            <a:r>
              <a:rPr lang="en-US" altLang="en-US" dirty="0"/>
              <a:t>User process may accidentally or purposefully attempt to disrupt normal operation via illegal I/O instructions</a:t>
            </a:r>
          </a:p>
          <a:p>
            <a:pPr lvl="1"/>
            <a:r>
              <a:rPr lang="en-US" altLang="en-US" dirty="0"/>
              <a:t>All I/O instructions defined to be privileged</a:t>
            </a:r>
          </a:p>
          <a:p>
            <a:pPr lvl="1"/>
            <a:r>
              <a:rPr lang="en-US" altLang="en-US" dirty="0"/>
              <a:t>I/O must be performed via system calls</a:t>
            </a:r>
          </a:p>
          <a:p>
            <a:pPr lvl="2"/>
            <a:r>
              <a:rPr lang="en-US" altLang="en-US" dirty="0"/>
              <a:t>Memory-mapped and I/O port memory locations must be protected too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FA5E05-6AD7-34A1-D553-75A6407C6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23D74AC9-061E-6B92-9AC2-5E2F456A7A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43780" y="943940"/>
            <a:ext cx="770413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Use of a System Call to Perform I/O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ED2C9D-B9D2-B320-97AA-AD8589FBC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28</a:t>
            </a:fld>
            <a:endParaRPr lang="en-US"/>
          </a:p>
        </p:txBody>
      </p:sp>
      <p:pic>
        <p:nvPicPr>
          <p:cNvPr id="34819" name="Picture 1" descr="13_11.pdf">
            <a:extLst>
              <a:ext uri="{FF2B5EF4-FFF2-40B4-BE49-F238E27FC236}">
                <a16:creationId xmlns:a16="http://schemas.microsoft.com/office/drawing/2014/main" id="{032A66F2-5FCC-4063-FAD3-1911C796A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422" y="1649589"/>
            <a:ext cx="3726459" cy="4958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AECE110-CFC3-5C68-B03C-A0917E4C7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I/O Requests to Hardware Operations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612B03D4-B501-ED81-CEB7-DCCD17E453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Consider reading a file from disk for a process:</a:t>
            </a:r>
          </a:p>
          <a:p>
            <a:pPr lvl="1"/>
            <a:r>
              <a:rPr lang="en-US" altLang="en-US"/>
              <a:t>Determine device holding file </a:t>
            </a:r>
          </a:p>
          <a:p>
            <a:pPr lvl="1"/>
            <a:r>
              <a:rPr lang="en-US" altLang="en-US"/>
              <a:t>Translate name to device representation</a:t>
            </a:r>
          </a:p>
          <a:p>
            <a:pPr lvl="1"/>
            <a:r>
              <a:rPr lang="en-US" altLang="en-US"/>
              <a:t>Physically read data from disk into buffer</a:t>
            </a:r>
          </a:p>
          <a:p>
            <a:pPr lvl="1"/>
            <a:r>
              <a:rPr lang="en-US" altLang="en-US"/>
              <a:t>Make data available to requesting process</a:t>
            </a:r>
          </a:p>
          <a:p>
            <a:pPr lvl="1"/>
            <a:r>
              <a:rPr lang="en-US" altLang="en-US"/>
              <a:t>Return control to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AC1A0-95E8-53F1-5CB5-BCA35381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29</a:t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B8D32B8A-91E0-8B5A-9D14-4BDBA02B33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436" y="1013220"/>
            <a:ext cx="776128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Life Cycle of An I/O Request</a:t>
            </a:r>
            <a:endParaRPr lang="en-US" altLang="en-US"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3E2614-EC9A-D8F8-E00C-FD7EC9916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30</a:t>
            </a:fld>
            <a:endParaRPr lang="en-US"/>
          </a:p>
        </p:txBody>
      </p:sp>
      <p:pic>
        <p:nvPicPr>
          <p:cNvPr id="40963" name="Picture 4" descr="13">
            <a:extLst>
              <a:ext uri="{FF2B5EF4-FFF2-40B4-BE49-F238E27FC236}">
                <a16:creationId xmlns:a16="http://schemas.microsoft.com/office/drawing/2014/main" id="{B801098B-2CB9-EDB5-39F8-266C215F4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938" y="1646814"/>
            <a:ext cx="3569160" cy="5159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DFCF945C-971D-8148-8667-8ED37221CD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2743" y="1023893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Performance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FB4DC3B4-C1CE-6A18-10E7-E8D6B033AB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62743" y="1756004"/>
            <a:ext cx="8390708" cy="4530725"/>
          </a:xfrm>
        </p:spPr>
        <p:txBody>
          <a:bodyPr>
            <a:normAutofit/>
          </a:bodyPr>
          <a:lstStyle/>
          <a:p>
            <a:r>
              <a:rPr lang="en-US" altLang="en-US" dirty="0"/>
              <a:t>I/O a major factor in system performance:</a:t>
            </a:r>
          </a:p>
          <a:p>
            <a:pPr lvl="1"/>
            <a:r>
              <a:rPr lang="en-US" altLang="en-US" dirty="0"/>
              <a:t>Demands CPU to execute device driver, kernel I/O code</a:t>
            </a:r>
          </a:p>
          <a:p>
            <a:pPr lvl="1"/>
            <a:r>
              <a:rPr lang="en-US" altLang="en-US" dirty="0"/>
              <a:t>Context switches due to interrupts</a:t>
            </a:r>
          </a:p>
          <a:p>
            <a:pPr lvl="1"/>
            <a:r>
              <a:rPr lang="en-US" altLang="en-US" dirty="0"/>
              <a:t>Data copying</a:t>
            </a:r>
          </a:p>
          <a:p>
            <a:pPr lvl="1"/>
            <a:r>
              <a:rPr lang="en-US" altLang="en-US" dirty="0"/>
              <a:t>Network traffic especially stressful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E47CE3-4A17-A562-8268-1870791A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F36FDB5D-723C-2BC5-EA19-67959E7CAC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7450" y="155576"/>
            <a:ext cx="775335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Intercomputer Communications</a:t>
            </a:r>
            <a:endParaRPr lang="en-US" altLang="en-US"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AC7D77-B5DB-9B32-273F-6C2295D73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32</a:t>
            </a:fld>
            <a:endParaRPr lang="en-US"/>
          </a:p>
        </p:txBody>
      </p:sp>
      <p:pic>
        <p:nvPicPr>
          <p:cNvPr id="45059" name="Picture 1" descr="13_15.pdf">
            <a:extLst>
              <a:ext uri="{FF2B5EF4-FFF2-40B4-BE49-F238E27FC236}">
                <a16:creationId xmlns:a16="http://schemas.microsoft.com/office/drawing/2014/main" id="{9EB028A4-8C7E-0742-ACD0-8499AB7D8B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475" y="1150939"/>
            <a:ext cx="3803650" cy="485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4CC1E7DB-AE5B-7654-D84E-0E15862AB9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567" y="1036769"/>
            <a:ext cx="7742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Improving Performance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9C4B0383-2E05-236C-0068-36EA03F5F7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98179" y="1872943"/>
            <a:ext cx="7490571" cy="4677127"/>
          </a:xfrm>
        </p:spPr>
        <p:txBody>
          <a:bodyPr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altLang="en-US" dirty="0"/>
              <a:t>Reduce number of context switches</a:t>
            </a:r>
            <a:endParaRPr lang="en-US" altLang="en-US" sz="8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altLang="en-US" dirty="0"/>
              <a:t>Reduce data copying</a:t>
            </a:r>
            <a:endParaRPr lang="en-US" altLang="en-US" sz="8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altLang="en-US" dirty="0"/>
              <a:t>Reduce interrupts by using large transfers, smart controllers, polling</a:t>
            </a:r>
            <a:endParaRPr lang="en-US" altLang="en-US" sz="8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altLang="en-US" dirty="0"/>
              <a:t>Use DMA</a:t>
            </a:r>
            <a:endParaRPr lang="en-US" altLang="en-US" sz="8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altLang="en-US" dirty="0"/>
              <a:t>Use smarter hardware devices</a:t>
            </a:r>
            <a:endParaRPr lang="en-US" altLang="en-US" sz="8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altLang="en-US" dirty="0"/>
              <a:t>Balance CPU, memory, bus, and I/O performance for highest throughput</a:t>
            </a:r>
            <a:endParaRPr lang="en-US" altLang="en-US" sz="8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altLang="en-US" dirty="0"/>
              <a:t>Move user-mode processes / daemons to kernel threads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AB2C3F-D060-7DFD-A4B6-47BDB5791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54AF2468-CF35-B138-EB0C-1BC003F38B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0052" y="1019614"/>
            <a:ext cx="77724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Device-Functionality Progression</a:t>
            </a:r>
            <a:endParaRPr lang="en-US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F9B38F-92FD-945E-824F-E2F893DA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34</a:t>
            </a:fld>
            <a:endParaRPr lang="en-US"/>
          </a:p>
        </p:txBody>
      </p:sp>
      <p:pic>
        <p:nvPicPr>
          <p:cNvPr id="47107" name="Picture 1" descr="13_16.pdf">
            <a:extLst>
              <a:ext uri="{FF2B5EF4-FFF2-40B4-BE49-F238E27FC236}">
                <a16:creationId xmlns:a16="http://schemas.microsoft.com/office/drawing/2014/main" id="{DD7AA659-BA74-899D-E967-D7D35897E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554" y="1813268"/>
            <a:ext cx="7108892" cy="4763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BE5400CADFA0469A091337646547C3" ma:contentTypeVersion="15" ma:contentTypeDescription="Create a new document." ma:contentTypeScope="" ma:versionID="a159abf626b7ae748b642627cf780eb4">
  <xsd:schema xmlns:xsd="http://www.w3.org/2001/XMLSchema" xmlns:xs="http://www.w3.org/2001/XMLSchema" xmlns:p="http://schemas.microsoft.com/office/2006/metadata/properties" xmlns:ns3="30d3476f-ec53-4671-8980-d10767fdaaec" xmlns:ns4="4b97df95-d6ed-4c71-86d4-bf7c4bd3aaf0" targetNamespace="http://schemas.microsoft.com/office/2006/metadata/properties" ma:root="true" ma:fieldsID="11d25a122ec29dbd4440de6415435311" ns3:_="" ns4:_="">
    <xsd:import namespace="30d3476f-ec53-4671-8980-d10767fdaaec"/>
    <xsd:import namespace="4b97df95-d6ed-4c71-86d4-bf7c4bd3aaf0"/>
    <xsd:element name="properties">
      <xsd:complexType>
        <xsd:sequence>
          <xsd:element name="documentManagement">
            <xsd:complexType>
              <xsd:all>
                <xsd:element ref="ns3:MigrationWizId" minOccurs="0"/>
                <xsd:element ref="ns3:MigrationWizIdPermissions" minOccurs="0"/>
                <xsd:element ref="ns3:MigrationWizIdVersion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3476f-ec53-4671-8980-d10767fdaaec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97df95-d6ed-4c71-86d4-bf7c4bd3aaf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30d3476f-ec53-4671-8980-d10767fdaaec" xsi:nil="true"/>
    <MigrationWizIdPermissions xmlns="30d3476f-ec53-4671-8980-d10767fdaaec" xsi:nil="true"/>
    <_activity xmlns="30d3476f-ec53-4671-8980-d10767fdaaec" xsi:nil="true"/>
    <MigrationWizIdVersion xmlns="30d3476f-ec53-4671-8980-d10767fdaae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878B6C-9C19-4992-A2CC-1243AA3F7C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d3476f-ec53-4671-8980-d10767fdaaec"/>
    <ds:schemaRef ds:uri="4b97df95-d6ed-4c71-86d4-bf7c4bd3aa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BFC6E3-A980-4DEC-A54B-F57AB042A59B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4b97df95-d6ed-4c71-86d4-bf7c4bd3aaf0"/>
    <ds:schemaRef ds:uri="http://schemas.microsoft.com/office/2006/documentManagement/types"/>
    <ds:schemaRef ds:uri="30d3476f-ec53-4671-8980-d10767fdaae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EFA3255-2DC8-4137-A082-CD7B359132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322</TotalTime>
  <Words>1680</Words>
  <Application>Microsoft Office PowerPoint</Application>
  <PresentationFormat>Widescreen</PresentationFormat>
  <Paragraphs>293</Paragraphs>
  <Slides>34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Monotype Sorts</vt:lpstr>
      <vt:lpstr>ＭＳ Ｐゴシック</vt:lpstr>
      <vt:lpstr>Arial</vt:lpstr>
      <vt:lpstr>Calibri</vt:lpstr>
      <vt:lpstr>Courier New</vt:lpstr>
      <vt:lpstr>Helvetica</vt:lpstr>
      <vt:lpstr>Times New Roman</vt:lpstr>
      <vt:lpstr>Tw Cen MT</vt:lpstr>
      <vt:lpstr>Tw Cen MT Condensed</vt:lpstr>
      <vt:lpstr>Webdings</vt:lpstr>
      <vt:lpstr>Wingdings 3</vt:lpstr>
      <vt:lpstr>Integral</vt:lpstr>
      <vt:lpstr>HDDS1104 Operating Systems and Networking</vt:lpstr>
      <vt:lpstr>Intended Learning Outcomes</vt:lpstr>
      <vt:lpstr>Topics</vt:lpstr>
      <vt:lpstr>Overview</vt:lpstr>
      <vt:lpstr>I/O Hardware</vt:lpstr>
      <vt:lpstr>A Typical PC Bus Structure</vt:lpstr>
      <vt:lpstr>I/O Hardware (Cont.)</vt:lpstr>
      <vt:lpstr>Polling</vt:lpstr>
      <vt:lpstr>Interrupts</vt:lpstr>
      <vt:lpstr>Interrupt-Driven I/O Cycle</vt:lpstr>
      <vt:lpstr>Interrupts (Cont.)</vt:lpstr>
      <vt:lpstr>Direct Memory Access</vt:lpstr>
      <vt:lpstr>Application I/O Interface</vt:lpstr>
      <vt:lpstr>A Kernel I/O Structure</vt:lpstr>
      <vt:lpstr>Characteristics of I/O Devices</vt:lpstr>
      <vt:lpstr>Characteristics of I/O Devices (Cont.)</vt:lpstr>
      <vt:lpstr>Block and Character Devices</vt:lpstr>
      <vt:lpstr>Network Devices</vt:lpstr>
      <vt:lpstr>Clocks and Timers</vt:lpstr>
      <vt:lpstr>Nonblocking and Asynchronous I/O</vt:lpstr>
      <vt:lpstr>Two I/O Methods</vt:lpstr>
      <vt:lpstr>Vectored I/O</vt:lpstr>
      <vt:lpstr>Kernel I/O Subsystem</vt:lpstr>
      <vt:lpstr>Device-status Table</vt:lpstr>
      <vt:lpstr>Kernel I/O Subsystem</vt:lpstr>
      <vt:lpstr>Error Handling</vt:lpstr>
      <vt:lpstr>I/O Protection</vt:lpstr>
      <vt:lpstr>Use of a System Call to Perform I/O</vt:lpstr>
      <vt:lpstr>I/O Requests to Hardware Operations</vt:lpstr>
      <vt:lpstr>Life Cycle of An I/O Request</vt:lpstr>
      <vt:lpstr>Performance</vt:lpstr>
      <vt:lpstr>Intercomputer Communications</vt:lpstr>
      <vt:lpstr>Improving Performance</vt:lpstr>
      <vt:lpstr>Device-Functionality Progression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HDDS1104 Operating Systems and Networking</dc:title>
  <dc:creator>Fung Cheuk Luk</dc:creator>
  <cp:lastModifiedBy>Simon Li</cp:lastModifiedBy>
  <cp:revision>47</cp:revision>
  <cp:lastPrinted>2023-01-12T02:19:31Z</cp:lastPrinted>
  <dcterms:created xsi:type="dcterms:W3CDTF">2023-01-11T06:01:27Z</dcterms:created>
  <dcterms:modified xsi:type="dcterms:W3CDTF">2026-02-20T03:42:55Z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0x0101006CBE5400CADFA0469A091337646547C3</vt:lpwstr>
  </property>
</Properties>
</file>